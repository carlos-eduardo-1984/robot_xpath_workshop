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88" dt="2026-10-09T08:37:16.916"/>
    <p1510:client id="{17A8F9E7-5A96-7FEF-CE30-CEF5F2DC1023}" v="20" dt="2026-10-09T08:10:26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arlos-eduardo-1984.github.io/robot_xpath_workshop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rlos-eduardo-1984/robot_xpath_workshop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73568" y="0"/>
            <a:ext cx="4224528" cy="6858000"/>
          </a:xfrm>
          <a:prstGeom prst="rect">
            <a:avLst/>
          </a:prstGeom>
          <a:solidFill>
            <a:srgbClr val="1F2A3D"/>
          </a:solidFill>
          <a:ln>
            <a:solidFill>
              <a:srgbClr val="1F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987552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645920"/>
            <a:ext cx="292608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200" b="1">
                <a:solidFill>
                  <a:srgbClr val="B25A2D"/>
                </a:solidFill>
                <a:latin typeface="Segoe UI"/>
              </a:rPr>
              <a:t>Hands-on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139696"/>
            <a:ext cx="6812280" cy="129844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4100" b="1">
                <a:solidFill>
                  <a:srgbClr val="1A1A1A"/>
                </a:solidFill>
                <a:latin typeface="Segoe UI"/>
              </a:rPr>
              <a:t>QA Automation Testing
with Robot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749039"/>
            <a:ext cx="6629400" cy="5669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850" b="0">
                <a:solidFill>
                  <a:srgbClr val="5F5A56"/>
                </a:solidFill>
                <a:latin typeface="Segoe UI"/>
              </a:rPr>
              <a:t>Save project effort by turning repetitive form testing into readable, reusable automation.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800600"/>
            <a:ext cx="1280160" cy="36576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DF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4901184"/>
            <a:ext cx="1097280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2C6D6F"/>
                </a:solidFill>
                <a:latin typeface="Segoe UI"/>
              </a:rPr>
              <a:t>Setup 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75104" y="4800600"/>
            <a:ext cx="1481328" cy="36576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DF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66544" y="4901184"/>
            <a:ext cx="1280160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2C6D6F"/>
                </a:solidFill>
                <a:latin typeface="Segoe UI"/>
              </a:rPr>
              <a:t>Reusable speed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30752" y="4800600"/>
            <a:ext cx="1481328" cy="36576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DF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22191" y="4901184"/>
            <a:ext cx="1280160" cy="1097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2C6D6F"/>
                </a:solidFill>
                <a:latin typeface="Segoe UI"/>
              </a:rPr>
              <a:t>Hands-on 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011680"/>
            <a:ext cx="2606040" cy="2487168"/>
          </a:xfrm>
          <a:prstGeom prst="roundRect">
            <a:avLst>
              <a:gd name="adj" fmla="val 14000"/>
            </a:avLst>
          </a:prstGeom>
          <a:solidFill>
            <a:srgbClr val="2D3A50"/>
          </a:solidFill>
          <a:ln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0" y="2395728"/>
            <a:ext cx="164592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00" b="1">
                <a:solidFill>
                  <a:srgbClr val="CAD2DE"/>
                </a:solidFill>
                <a:latin typeface="Segoe UI"/>
              </a:rPr>
              <a:t>Workshop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3178" y="2830086"/>
            <a:ext cx="2485475" cy="9417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Segoe UI"/>
              </a:rPr>
              <a:t>Automate the repetitive.
Protect the quality.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1320" y="6483096"/>
            <a:ext cx="6858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11">
            <a:extLst>
              <a:ext uri="{FF2B5EF4-FFF2-40B4-BE49-F238E27FC236}">
                <a16:creationId xmlns:a16="http://schemas.microsoft.com/office/drawing/2014/main" id="{0679CB42-1A7A-EB7F-3F09-AAA4EA385557}"/>
              </a:ext>
            </a:extLst>
          </p:cNvPr>
          <p:cNvSpPr/>
          <p:nvPr/>
        </p:nvSpPr>
        <p:spPr>
          <a:xfrm>
            <a:off x="505434" y="2377440"/>
            <a:ext cx="4707746" cy="18694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BEFORE WE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02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5262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lang="en-US" sz="3300" b="1" dirty="0">
                <a:solidFill>
                  <a:srgbClr val="1A1A1A"/>
                </a:solidFill>
                <a:latin typeface="Segoe UI"/>
              </a:rPr>
              <a:t>Todays</a:t>
            </a:r>
            <a:r>
              <a:rPr sz="3300" b="1" dirty="0">
                <a:solidFill>
                  <a:srgbClr val="1A1A1A"/>
                </a:solidFill>
                <a:latin typeface="Segoe UI"/>
              </a:rPr>
              <a:t> presenters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>
                <a:solidFill>
                  <a:srgbClr val="5F5A56"/>
                </a:solidFill>
                <a:latin typeface="Segoe UI"/>
              </a:rPr>
              <a:t>Acknowledge who is leading today and who helped shape the workshop.</a:t>
            </a:r>
          </a:p>
        </p:txBody>
      </p:sp>
      <p:sp>
        <p:nvSpPr>
          <p:cNvPr id="9" name="Oval 8"/>
          <p:cNvSpPr/>
          <p:nvPr/>
        </p:nvSpPr>
        <p:spPr>
          <a:xfrm>
            <a:off x="1115568" y="2770632"/>
            <a:ext cx="731520" cy="731520"/>
          </a:xfrm>
          <a:prstGeom prst="ellipse">
            <a:avLst/>
          </a:prstGeom>
          <a:solidFill>
            <a:srgbClr val="DFEEEA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70561" y="2985517"/>
            <a:ext cx="2104063" cy="357021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Segoe UI"/>
              </a:rPr>
              <a:t>Carlos Oliveira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0724" y="3421114"/>
            <a:ext cx="2971800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50" b="0">
                <a:solidFill>
                  <a:srgbClr val="5F5A56"/>
                </a:solidFill>
                <a:latin typeface="Segoe UI"/>
              </a:rPr>
              <a:t>Presenter / workshop host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0774" y="2377440"/>
            <a:ext cx="4707746" cy="186949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56248" y="2770632"/>
            <a:ext cx="731520" cy="731520"/>
          </a:xfrm>
          <a:prstGeom prst="ellipse">
            <a:avLst/>
          </a:prstGeom>
          <a:solidFill>
            <a:srgbClr val="DFEEEA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87326" y="2986726"/>
            <a:ext cx="283464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Segoe UI"/>
              </a:rPr>
              <a:t>Nuno Pinto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69944" y="3429628"/>
            <a:ext cx="2971800" cy="4114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50" b="0">
                <a:solidFill>
                  <a:srgbClr val="5F5A56"/>
                </a:solidFill>
                <a:latin typeface="Segoe UI"/>
              </a:rPr>
              <a:t>Presenter / workshop host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46158" y="4683815"/>
            <a:ext cx="4463749" cy="964614"/>
          </a:xfrm>
          <a:prstGeom prst="roundRect">
            <a:avLst>
              <a:gd name="adj" fmla="val 14000"/>
            </a:avLst>
          </a:prstGeom>
          <a:solidFill>
            <a:schemeClr val="bg1"/>
          </a:solidFill>
          <a:ln>
            <a:solidFill>
              <a:srgbClr val="1F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2074" y="4937383"/>
            <a:ext cx="2919953" cy="24176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1" dirty="0">
                <a:solidFill>
                  <a:schemeClr val="tx2"/>
                </a:solidFill>
                <a:latin typeface="Segoe UI"/>
              </a:rPr>
              <a:t>Special thanks to Saroj </a:t>
            </a:r>
            <a:r>
              <a:rPr sz="1400" b="1" dirty="0" err="1">
                <a:solidFill>
                  <a:schemeClr val="tx2"/>
                </a:solidFill>
                <a:latin typeface="Segoe UI"/>
              </a:rPr>
              <a:t>Duwadi</a:t>
            </a:r>
            <a:endParaRPr lang="en-US" sz="1400" b="1">
              <a:solidFill>
                <a:schemeClr val="tx2"/>
              </a:solidFill>
              <a:latin typeface="Segoe UI"/>
              <a:cs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35044" y="5175629"/>
            <a:ext cx="2938178" cy="22621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lang="en-US" sz="1350">
                <a:solidFill>
                  <a:schemeClr val="tx2"/>
                </a:solidFill>
                <a:latin typeface="Segoe UI"/>
              </a:rPr>
              <a:t>Contributor</a:t>
            </a:r>
            <a:r>
              <a:rPr sz="1350" b="0">
                <a:solidFill>
                  <a:schemeClr val="tx2"/>
                </a:solidFill>
                <a:latin typeface="Segoe UI"/>
              </a:rPr>
              <a:t> to the workshop material</a:t>
            </a:r>
            <a:endParaRPr lang="en-US" sz="1350" b="0">
              <a:solidFill>
                <a:schemeClr val="tx2"/>
              </a:solidFill>
              <a:latin typeface="Segoe UI"/>
              <a:cs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2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FECC3C5-E032-364F-0F1B-246D5B658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009" y="2734314"/>
            <a:ext cx="1169218" cy="104372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364B753-1B81-08A5-7430-0B1AA7FB2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45" y="2737946"/>
            <a:ext cx="1515752" cy="178274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BECA826-FE38-8231-06A3-44B996B6E0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4652" y="4684434"/>
            <a:ext cx="1023005" cy="961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WORKSHOP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03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87334"/>
            <a:ext cx="11388993" cy="27238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 dirty="0">
                <a:solidFill>
                  <a:srgbClr val="5F5A56"/>
                </a:solidFill>
                <a:latin typeface="Segoe UI"/>
              </a:rPr>
              <a:t>A short workshop loop: expose the setup problem, automate the repeatable work, </a:t>
            </a:r>
            <a:r>
              <a:rPr lang="en-US" sz="1650" dirty="0" err="1">
                <a:solidFill>
                  <a:srgbClr val="5F5A56"/>
                </a:solidFill>
                <a:latin typeface="Segoe UI"/>
              </a:rPr>
              <a:t>practise</a:t>
            </a:r>
            <a:r>
              <a:rPr sz="1650" b="0" dirty="0">
                <a:solidFill>
                  <a:srgbClr val="5F5A56"/>
                </a:solidFill>
                <a:latin typeface="Segoe UI"/>
              </a:rPr>
              <a:t>, then define the next small win.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859707"/>
            <a:ext cx="10287000" cy="10972"/>
          </a:xfrm>
          <a:prstGeom prst="rect">
            <a:avLst/>
          </a:prstGeom>
          <a:solidFill>
            <a:srgbClr val="D5CAB9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56787"/>
            <a:ext cx="100584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1">
                <a:solidFill>
                  <a:srgbClr val="E30613"/>
                </a:solidFill>
                <a:latin typeface="Segoe UI"/>
              </a:rPr>
              <a:t>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347643"/>
            <a:ext cx="3063240" cy="287771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sz="1750" b="1">
                <a:solidFill>
                  <a:srgbClr val="1A1A1A"/>
                </a:solidFill>
                <a:latin typeface="Segoe UI"/>
              </a:rPr>
              <a:t>The setup </a:t>
            </a:r>
            <a:r>
              <a:rPr lang="en-US" sz="1750" b="1">
                <a:solidFill>
                  <a:srgbClr val="1A1A1A"/>
                </a:solidFill>
                <a:latin typeface="Segoe UI"/>
              </a:rPr>
              <a:t>to do</a:t>
            </a:r>
            <a:endParaRPr sz="1750" b="1">
              <a:solidFill>
                <a:srgbClr val="1A1A1A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6360" y="2375075"/>
            <a:ext cx="5806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>
                <a:solidFill>
                  <a:srgbClr val="5F5A56"/>
                </a:solidFill>
                <a:latin typeface="Segoe UI"/>
              </a:rPr>
              <a:t>Before test #1: dependencies, browsers, drivers, credentials, environments and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618659"/>
            <a:ext cx="10287000" cy="10972"/>
          </a:xfrm>
          <a:prstGeom prst="rect">
            <a:avLst/>
          </a:prstGeom>
          <a:solidFill>
            <a:srgbClr val="D5CAB9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115739"/>
            <a:ext cx="100584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1">
                <a:solidFill>
                  <a:srgbClr val="2C6D6F"/>
                </a:solidFill>
                <a:latin typeface="Segoe UI"/>
              </a:rPr>
              <a:t>10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3106595"/>
            <a:ext cx="30632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50" b="1">
                <a:solidFill>
                  <a:srgbClr val="1A1A1A"/>
                </a:solidFill>
                <a:latin typeface="Segoe UI"/>
              </a:rPr>
              <a:t>Automate the boring bits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134027"/>
            <a:ext cx="5806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>
                <a:solidFill>
                  <a:srgbClr val="5F5A56"/>
                </a:solidFill>
                <a:latin typeface="Segoe UI"/>
              </a:rPr>
              <a:t>Templates, shared libraries and one-command execution for repeatable checks.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77611"/>
            <a:ext cx="10287000" cy="10972"/>
          </a:xfrm>
          <a:prstGeom prst="rect">
            <a:avLst/>
          </a:prstGeom>
          <a:solidFill>
            <a:srgbClr val="D5CAB9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74691"/>
            <a:ext cx="100584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1">
                <a:solidFill>
                  <a:srgbClr val="D9B36A"/>
                </a:solidFill>
                <a:latin typeface="Segoe UI"/>
              </a:rPr>
              <a:t>20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3865547"/>
            <a:ext cx="30632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50" b="1">
                <a:solidFill>
                  <a:srgbClr val="1A1A1A"/>
                </a:solidFill>
                <a:latin typeface="Segoe UI"/>
              </a:rPr>
              <a:t>Hands-on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892978"/>
            <a:ext cx="5806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>
                <a:solidFill>
                  <a:srgbClr val="5F5A56"/>
                </a:solidFill>
                <a:latin typeface="Segoe UI"/>
              </a:rPr>
              <a:t>From zero to a running Robot Framework test: create, structure, develop and run.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136563"/>
            <a:ext cx="10287000" cy="10972"/>
          </a:xfrm>
          <a:prstGeom prst="rect">
            <a:avLst/>
          </a:prstGeom>
          <a:solidFill>
            <a:srgbClr val="D5CAB9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633643"/>
            <a:ext cx="100584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1">
                <a:solidFill>
                  <a:srgbClr val="E30613"/>
                </a:solidFill>
                <a:latin typeface="Segoe UI"/>
              </a:rPr>
              <a:t>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4624499"/>
            <a:ext cx="30632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50" b="1">
                <a:solidFill>
                  <a:srgbClr val="1A1A1A"/>
                </a:solidFill>
                <a:latin typeface="Segoe UI"/>
              </a:rPr>
              <a:t>Close &amp; launch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4651931"/>
            <a:ext cx="5806440" cy="2560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0">
                <a:solidFill>
                  <a:srgbClr val="5F5A56"/>
                </a:solidFill>
                <a:latin typeface="Segoe UI"/>
              </a:rPr>
              <a:t>Q&amp;A, project commitments and one useful journey to automate next.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504688"/>
            <a:ext cx="10287000" cy="50292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DF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2415" y="5641848"/>
            <a:ext cx="964692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600" b="1">
                <a:solidFill>
                  <a:srgbClr val="2C6D6F"/>
                </a:solidFill>
                <a:latin typeface="Segoe UI"/>
              </a:rPr>
              <a:t>Live goal: one readable test, one reusable keyword, one clear report.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01 ? THE SETUP 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04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Before the first test can run...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10789920" cy="27238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 dirty="0">
                <a:solidFill>
                  <a:srgbClr val="5F5A56"/>
                </a:solidFill>
                <a:latin typeface="Segoe UI"/>
              </a:rPr>
              <a:t>Repositories, dependencies, browsers, drivers, credentials, environments and reporting all compete for attention.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473962"/>
            <a:ext cx="3246120" cy="208483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2473962"/>
            <a:ext cx="73152" cy="2084831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675130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The hidden workload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6717"/>
            <a:ext cx="2807208" cy="12801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 dirty="0">
                <a:solidFill>
                  <a:srgbClr val="5F5A56"/>
                </a:solidFill>
                <a:latin typeface="Segoe UI"/>
              </a:rPr>
              <a:t>Setup effort often happens before useful validation starts, but it still consumes project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473962"/>
            <a:ext cx="3246120" cy="208483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473962"/>
            <a:ext cx="73152" cy="2084831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675130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 dirty="0">
                <a:solidFill>
                  <a:srgbClr val="1A1A1A"/>
                </a:solidFill>
                <a:latin typeface="Segoe UI"/>
              </a:rPr>
              <a:t>Slow start, delayed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2243" y="3321475"/>
            <a:ext cx="2807208" cy="12801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 dirty="0">
                <a:solidFill>
                  <a:srgbClr val="5F5A56"/>
                </a:solidFill>
                <a:latin typeface="Segoe UI"/>
              </a:rPr>
              <a:t>Teams spend effort preparing the runway instead of validating product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2473962"/>
            <a:ext cx="3246120" cy="2084831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2473962"/>
            <a:ext cx="73152" cy="2084831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2675130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Inconsistency multiplies effort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3300316"/>
            <a:ext cx="2807208" cy="12801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 dirty="0">
                <a:solidFill>
                  <a:srgbClr val="5F5A56"/>
                </a:solidFill>
                <a:latin typeface="Segoe UI"/>
              </a:rPr>
              <a:t>Every custom setup creates another version to maintain, troubleshoot and explain.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138928"/>
            <a:ext cx="10104120" cy="640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5330952"/>
            <a:ext cx="9464040" cy="2800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Segoe UI"/>
              </a:rPr>
              <a:t>Discussion prompt: Where does your team lose the most time before </a:t>
            </a:r>
            <a:r>
              <a:rPr lang="en-US" sz="1700" b="1">
                <a:solidFill>
                  <a:srgbClr val="1A1A1A"/>
                </a:solidFill>
                <a:latin typeface="Segoe UI"/>
              </a:rPr>
              <a:t>testing phases</a:t>
            </a:r>
            <a:r>
              <a:rPr sz="1700" b="1" dirty="0">
                <a:solidFill>
                  <a:srgbClr val="1A1A1A"/>
                </a:solidFill>
                <a:latin typeface="Segoe UI"/>
              </a:rPr>
              <a:t> #1?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02 ? AUTOMATE THE BORING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05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Turn repetitive effort into reusable speed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>
                <a:solidFill>
                  <a:srgbClr val="5F5A56"/>
                </a:solidFill>
                <a:latin typeface="Segoe UI"/>
              </a:rPr>
              <a:t>Not every task needs a human decision. Some tasks need a stable pattern.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04288"/>
            <a:ext cx="3246120" cy="2286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2304288"/>
            <a:ext cx="73152" cy="2286000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505456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Standardize the launchpad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3189911"/>
            <a:ext cx="2807208" cy="14813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 dirty="0">
                <a:solidFill>
                  <a:srgbClr val="5F5A56"/>
                </a:solidFill>
                <a:latin typeface="Segoe UI"/>
              </a:rPr>
              <a:t>Reusable templates, shared libraries and one-command setup reduce reinvention across project teams.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04288"/>
            <a:ext cx="3246120" cy="2286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304288"/>
            <a:ext cx="73152" cy="2286000"/>
          </a:xfrm>
          <a:prstGeom prst="rect">
            <a:avLst/>
          </a:prstGeom>
          <a:solidFill>
            <a:srgbClr val="B25A2D"/>
          </a:solidFill>
          <a:ln>
            <a:solidFill>
              <a:srgbClr val="B25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505456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Automate across the lifecycle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189911"/>
            <a:ext cx="2807208" cy="14813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Generate scaffolding, execute checks, collect evidence and publish reports through delivery pipelines.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2304288"/>
            <a:ext cx="3246120" cy="2286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2304288"/>
            <a:ext cx="73152" cy="228600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2505456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Keep humans on high-value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3189911"/>
            <a:ext cx="2807208" cy="148132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Let automation handle repeatable checks while people focus on risk, exploration and product conversations.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175504"/>
            <a:ext cx="10104120" cy="64008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5367528"/>
            <a:ext cx="946404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700" b="1">
                <a:solidFill>
                  <a:srgbClr val="2C6D6F"/>
                </a:solidFill>
                <a:latin typeface="Segoe UI"/>
              </a:rPr>
              <a:t>Outcome: faster feedback, repeatable quality and less setup friction.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WHAT IS ROBOT FRAMEWORK?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06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Robot Framework in one minute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>
                <a:solidFill>
                  <a:srgbClr val="5F5A56"/>
                </a:solidFill>
                <a:latin typeface="Segoe UI"/>
              </a:rPr>
              <a:t>A practical automation framework for readable tests, reusable steps and clear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04288"/>
            <a:ext cx="3246120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2304288"/>
            <a:ext cx="73152" cy="2194560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542032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Open source and free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99232"/>
            <a:ext cx="2807208" cy="13258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Robot Framework is an open-source test automation framework with an active ecosystem and no license cost to start.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04288"/>
            <a:ext cx="3246120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304288"/>
            <a:ext cx="73152" cy="2194560"/>
          </a:xfrm>
          <a:prstGeom prst="rect">
            <a:avLst/>
          </a:prstGeom>
          <a:solidFill>
            <a:srgbClr val="B25A2D"/>
          </a:solidFill>
          <a:ln>
            <a:solidFill>
              <a:srgbClr val="B25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542032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High-level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99232"/>
            <a:ext cx="2807208" cy="13258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Tests are written as readable keywords, so the intent stays visible to QA, developers and business stakeholders.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2304288"/>
            <a:ext cx="3246120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2304288"/>
            <a:ext cx="73152" cy="219456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2542032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Expandable by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999232"/>
            <a:ext cx="2807208" cy="13258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Use existing libraries for Browser, API, database and files ? or create your own keywords when the project needs them.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138928"/>
            <a:ext cx="10104120" cy="64008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5330952"/>
            <a:ext cx="946404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200" b="1" dirty="0">
                <a:solidFill>
                  <a:srgbClr val="2C6D6F"/>
                </a:solidFill>
                <a:latin typeface="Segoe UI"/>
              </a:rPr>
              <a:t>Why it fits this workshop: one simple syntax can automate browser actions, validate results and produce reports the team can read.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03 ? 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06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From zero to a running Robot Framework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27238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 dirty="0">
                <a:solidFill>
                  <a:srgbClr val="5F5A56"/>
                </a:solidFill>
                <a:latin typeface="Segoe UI"/>
              </a:rPr>
              <a:t>The lab uses a local browser form so everyone can practice a realistic automation 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721191"/>
            <a:ext cx="2395728" cy="914400"/>
          </a:xfrm>
          <a:prstGeom prst="roundRect">
            <a:avLst>
              <a:gd name="adj" fmla="val 14000"/>
            </a:avLst>
          </a:prstGeom>
          <a:solidFill>
            <a:srgbClr val="FAF8F3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6968" y="2922359"/>
            <a:ext cx="274320" cy="27432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6403" y="2958935"/>
            <a:ext cx="109728" cy="731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858351"/>
            <a:ext cx="160020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Segoe UI"/>
              </a:rPr>
              <a:t>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288119"/>
            <a:ext cx="19659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0">
                <a:solidFill>
                  <a:srgbClr val="5F5A56"/>
                </a:solidFill>
                <a:latin typeface="Segoe UI"/>
              </a:rPr>
              <a:t>venv + install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3008" y="2721191"/>
            <a:ext cx="2395728" cy="914400"/>
          </a:xfrm>
          <a:prstGeom prst="roundRect">
            <a:avLst>
              <a:gd name="adj" fmla="val 14000"/>
            </a:avLst>
          </a:prstGeom>
          <a:solidFill>
            <a:srgbClr val="FAF8F3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30168" y="2922359"/>
            <a:ext cx="274320" cy="27432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9604" y="2958935"/>
            <a:ext cx="109728" cy="731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8" y="2858351"/>
            <a:ext cx="160020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Segoe UI"/>
              </a:rPr>
              <a:t>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3288119"/>
            <a:ext cx="19659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0">
                <a:solidFill>
                  <a:srgbClr val="5F5A56"/>
                </a:solidFill>
                <a:latin typeface="Segoe UI"/>
              </a:rPr>
              <a:t>tests + 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721191"/>
            <a:ext cx="2395728" cy="914400"/>
          </a:xfrm>
          <a:prstGeom prst="roundRect">
            <a:avLst>
              <a:gd name="adj" fmla="val 14000"/>
            </a:avLst>
          </a:prstGeom>
          <a:solidFill>
            <a:srgbClr val="FAF8F3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73368" y="2922359"/>
            <a:ext cx="274320" cy="27432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32804" y="2958935"/>
            <a:ext cx="109728" cy="731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2858351"/>
            <a:ext cx="160020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Segoe UI"/>
              </a:rPr>
              <a:t>Develop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288119"/>
            <a:ext cx="19659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0">
                <a:solidFill>
                  <a:srgbClr val="5F5A56"/>
                </a:solidFill>
                <a:latin typeface="Segoe UI"/>
              </a:rPr>
              <a:t>keywords +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9408" y="2721191"/>
            <a:ext cx="2395728" cy="914400"/>
          </a:xfrm>
          <a:prstGeom prst="roundRect">
            <a:avLst>
              <a:gd name="adj" fmla="val 14000"/>
            </a:avLst>
          </a:prstGeom>
          <a:solidFill>
            <a:srgbClr val="FAF8F3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16568" y="2922359"/>
            <a:ext cx="274320" cy="27432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76004" y="2958935"/>
            <a:ext cx="109728" cy="7315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2858351"/>
            <a:ext cx="1600200" cy="2194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Segoe UI"/>
              </a:rPr>
              <a:t>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3288119"/>
            <a:ext cx="196596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100" b="0">
                <a:solidFill>
                  <a:srgbClr val="5F5A56"/>
                </a:solidFill>
                <a:latin typeface="Segoe UI"/>
              </a:rPr>
              <a:t>results +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" y="5650992"/>
            <a:ext cx="987552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Segoe UI"/>
              </a:rPr>
              <a:t>Live goal: one readable test, one reusable keyword, one clear report.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A11C97-1D5E-9F0D-AC90-FFD0A132AED9}"/>
              </a:ext>
            </a:extLst>
          </p:cNvPr>
          <p:cNvSpPr txBox="1"/>
          <p:nvPr/>
        </p:nvSpPr>
        <p:spPr>
          <a:xfrm>
            <a:off x="2914454" y="4175288"/>
            <a:ext cx="6096000" cy="11387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ea typeface="Calibri"/>
                <a:cs typeface="Calibri"/>
              </a:rPr>
              <a:t>WebApp to Test – </a:t>
            </a:r>
            <a:r>
              <a:rPr lang="en-US" sz="3200" b="1" dirty="0">
                <a:ea typeface="Calibri"/>
                <a:cs typeface="Calibri"/>
                <a:hlinkClick r:id="rId3"/>
              </a:rPr>
              <a:t>Hands-On APP</a:t>
            </a:r>
            <a:endParaRPr lang="en-US" sz="3200" b="1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CORE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07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Robot Framework basics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>
                <a:solidFill>
                  <a:srgbClr val="5F5A56"/>
                </a:solidFill>
                <a:latin typeface="Segoe UI"/>
              </a:rPr>
              <a:t>Four concepts are enough to understand what is happening in the lab.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331720"/>
            <a:ext cx="2542032" cy="23957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656" y="2331720"/>
            <a:ext cx="73152" cy="2395728"/>
          </a:xfrm>
          <a:prstGeom prst="rect">
            <a:avLst/>
          </a:prstGeom>
          <a:solidFill>
            <a:srgbClr val="B25A2D"/>
          </a:solidFill>
          <a:ln>
            <a:solidFill>
              <a:srgbClr val="B25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6112" y="2532888"/>
            <a:ext cx="1508760" cy="329184"/>
          </a:xfrm>
          <a:prstGeom prst="roundRect">
            <a:avLst>
              <a:gd name="adj" fmla="val 14000"/>
            </a:avLst>
          </a:prstGeom>
          <a:solidFill>
            <a:srgbClr val="E9D8C9"/>
          </a:solidFill>
          <a:ln>
            <a:solidFill>
              <a:srgbClr val="E9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" y="2615184"/>
            <a:ext cx="1362456" cy="1188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B25A2D"/>
                </a:solidFill>
                <a:latin typeface="Segoe UI"/>
              </a:rPr>
              <a:t>TEST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6663"/>
            <a:ext cx="210312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465575"/>
            <a:ext cx="2103120" cy="15910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Each test expresses a business flow or validation.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2331720"/>
            <a:ext cx="2542032" cy="23957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19856" y="2331720"/>
            <a:ext cx="73152" cy="2395728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639312" y="2532888"/>
            <a:ext cx="1508760" cy="329184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DF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12464" y="2615184"/>
            <a:ext cx="1362456" cy="1188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2C6D6F"/>
                </a:solidFill>
                <a:latin typeface="Segoe UI"/>
              </a:rPr>
              <a:t>KEYWORDS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3026663"/>
            <a:ext cx="210312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3465575"/>
            <a:ext cx="2103120" cy="15910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Reusable instructions such as open browser, input text, or click.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331720"/>
            <a:ext cx="2542032" cy="23957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63056" y="2331720"/>
            <a:ext cx="73152" cy="2395728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82512" y="2532888"/>
            <a:ext cx="1508760" cy="329184"/>
          </a:xfrm>
          <a:prstGeom prst="roundRect">
            <a:avLst>
              <a:gd name="adj" fmla="val 14000"/>
            </a:avLst>
          </a:prstGeom>
          <a:solidFill>
            <a:srgbClr val="E9D8C9"/>
          </a:solidFill>
          <a:ln>
            <a:solidFill>
              <a:srgbClr val="E9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55664" y="2615184"/>
            <a:ext cx="1362456" cy="1188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D9B36A"/>
                </a:solidFill>
                <a:latin typeface="Segoe UI"/>
              </a:rPr>
              <a:t>VARIABLES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026663"/>
            <a:ext cx="210312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465575"/>
            <a:ext cx="2103120" cy="15910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URLs, names, selectors and expected results that can change easily.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06256" y="2331720"/>
            <a:ext cx="2542032" cy="23957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906256" y="2331720"/>
            <a:ext cx="73152" cy="2395728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125712" y="2532888"/>
            <a:ext cx="1508760" cy="329184"/>
          </a:xfrm>
          <a:prstGeom prst="roundRect">
            <a:avLst>
              <a:gd name="adj" fmla="val 14000"/>
            </a:avLst>
          </a:prstGeom>
          <a:solidFill>
            <a:srgbClr val="E9D8C9"/>
          </a:solidFill>
          <a:ln>
            <a:solidFill>
              <a:srgbClr val="E9D8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98864" y="2615184"/>
            <a:ext cx="1362456" cy="11887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850" b="1">
                <a:solidFill>
                  <a:srgbClr val="E30613"/>
                </a:solidFill>
                <a:latin typeface="Segoe UI"/>
              </a:rPr>
              <a:t>RESOURCES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4856" y="3026663"/>
            <a:ext cx="2103120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4856" y="3465575"/>
            <a:ext cx="2103120" cy="159105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Reusable logic stored separately from the test scenario.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13248"/>
            <a:ext cx="1005840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2000" b="1">
                <a:solidFill>
                  <a:srgbClr val="1F2A3D"/>
                </a:solidFill>
                <a:latin typeface="Segoe UI"/>
              </a:rPr>
              <a:t>Keep the test focused on intent; keep technical details reusable.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PRACTICAL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08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We will automate a form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>
                <a:solidFill>
                  <a:srgbClr val="5F5A56"/>
                </a:solidFill>
                <a:latin typeface="Segoe UI"/>
              </a:rPr>
              <a:t>The exercise mirrors a common QA pattern: enter data, interact with controls, submit, and validate.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487168"/>
            <a:ext cx="2487168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2487168"/>
            <a:ext cx="73152" cy="2194560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688336"/>
            <a:ext cx="204825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1. 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3127248"/>
            <a:ext cx="2048256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Enter user data into the web 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8727" y="2487168"/>
            <a:ext cx="2487168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38727" y="2487168"/>
            <a:ext cx="73152" cy="2194560"/>
          </a:xfrm>
          <a:prstGeom prst="rect">
            <a:avLst/>
          </a:prstGeom>
          <a:solidFill>
            <a:srgbClr val="B25A2D"/>
          </a:solidFill>
          <a:ln>
            <a:solidFill>
              <a:srgbClr val="B25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67327" y="2688336"/>
            <a:ext cx="204825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2. 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7" y="3127248"/>
            <a:ext cx="2048256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Choose dropdown, radio and checkbox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487168"/>
            <a:ext cx="2487168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27648" y="2487168"/>
            <a:ext cx="73152" cy="219456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8" y="2688336"/>
            <a:ext cx="204825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3. Submit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3127248"/>
            <a:ext cx="2048256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Trigger the flow as a user would.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16567" y="2487168"/>
            <a:ext cx="2487168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16567" y="2487168"/>
            <a:ext cx="73152" cy="2194560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45167" y="2688336"/>
            <a:ext cx="2048256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4.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5167" y="3127248"/>
            <a:ext cx="2048256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Confirm the expected success message appears.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49240"/>
            <a:ext cx="10058400" cy="32004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800" b="1">
                <a:solidFill>
                  <a:srgbClr val="1F2A3D"/>
                </a:solidFill>
                <a:latin typeface="Segoe UI"/>
              </a:rPr>
              <a:t>Small scenario, real pattern: these same ideas scale to project regression tests.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09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Why teams invest in automation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2212848"/>
            <a:ext cx="489204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8096" y="2212848"/>
            <a:ext cx="73152" cy="1234440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5" y="2414016"/>
            <a:ext cx="4453127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2852928"/>
            <a:ext cx="4453127" cy="4297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Repeated validation work is done in minutes instead of hours.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12848"/>
            <a:ext cx="489204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2212848"/>
            <a:ext cx="73152" cy="1234440"/>
          </a:xfrm>
          <a:prstGeom prst="rect">
            <a:avLst/>
          </a:prstGeom>
          <a:solidFill>
            <a:srgbClr val="B25A2D"/>
          </a:solidFill>
          <a:ln>
            <a:solidFill>
              <a:srgbClr val="B25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2414016"/>
            <a:ext cx="4453127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52928"/>
            <a:ext cx="4453127" cy="4297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Automation reduces missed checks and gives more consistent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" y="3858768"/>
            <a:ext cx="489204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8096" y="3858768"/>
            <a:ext cx="73152" cy="123444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5" y="4059935"/>
            <a:ext cx="4453127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5" y="4498848"/>
            <a:ext cx="4453127" cy="4297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As projects grow, automated tests can cover more functionality with less effort.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858768"/>
            <a:ext cx="4892040" cy="12344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858768"/>
            <a:ext cx="73152" cy="1234440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4059935"/>
            <a:ext cx="4453127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498848"/>
            <a:ext cx="4453127" cy="4297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Teams can validate more scenarios, including repetitive regression checks.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512064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>
                <a:solidFill>
                  <a:srgbClr val="B25A2D"/>
                </a:solidFill>
                <a:latin typeface="Segoe UI"/>
              </a:rPr>
              <a:t>04 ? CLOSE &amp;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84048"/>
            <a:ext cx="36576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1000" b="1">
                <a:solidFill>
                  <a:srgbClr val="5F5A56"/>
                </a:solidFill>
                <a:latin typeface="Segoe UI"/>
              </a:rPr>
              <a:t>10</a:t>
            </a:r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28" y="283464"/>
            <a:ext cx="786384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960120"/>
            <a:ext cx="10332720" cy="82296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3300" b="1">
                <a:solidFill>
                  <a:srgbClr val="1A1A1A"/>
                </a:solidFill>
                <a:latin typeface="Segoe UI"/>
              </a:rPr>
              <a:t>Questions, commitments and the next small 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55648"/>
            <a:ext cx="9875520" cy="4937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650" b="0">
                <a:solidFill>
                  <a:srgbClr val="5F5A56"/>
                </a:solidFill>
                <a:latin typeface="Segoe UI"/>
              </a:rPr>
              <a:t>End with a practical decision: where could this pattern help your team first?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304288"/>
            <a:ext cx="3246120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8" y="2304288"/>
            <a:ext cx="73152" cy="2194560"/>
          </a:xfrm>
          <a:prstGeom prst="rect">
            <a:avLst/>
          </a:prstGeom>
          <a:solidFill>
            <a:srgbClr val="E30613"/>
          </a:solidFill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8407" y="2505456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944368"/>
            <a:ext cx="2807208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Bring one challenge from your project: setup, maintainability, execution time, data or reporting.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304288"/>
            <a:ext cx="3246120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2304288"/>
            <a:ext cx="73152" cy="2194560"/>
          </a:xfrm>
          <a:prstGeom prst="rect">
            <a:avLst/>
          </a:prstGeom>
          <a:solidFill>
            <a:srgbClr val="D9B36A"/>
          </a:solidFill>
          <a:ln>
            <a:solidFill>
              <a:srgbClr val="D9B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2505456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Choose the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944368"/>
            <a:ext cx="2807208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Select a small, stable and valuable flow that can demonstrate feedback quickly.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2304288"/>
            <a:ext cx="3246120" cy="21945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5CA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11312" y="2304288"/>
            <a:ext cx="73152" cy="2194560"/>
          </a:xfrm>
          <a:prstGeom prst="rect">
            <a:avLst/>
          </a:prstGeom>
          <a:solidFill>
            <a:srgbClr val="2C6D6F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9912" y="2505456"/>
            <a:ext cx="2807208" cy="31089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700" b="1">
                <a:solidFill>
                  <a:srgbClr val="1A1A1A"/>
                </a:solidFill>
                <a:latin typeface="Segoe UI"/>
              </a:rPr>
              <a:t>Start repeatable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2944368"/>
            <a:ext cx="2807208" cy="13898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300" b="0">
                <a:solidFill>
                  <a:srgbClr val="5F5A56"/>
                </a:solidFill>
                <a:latin typeface="Segoe UI"/>
              </a:rPr>
              <a:t>Agree on the owner, repository template, first test scope and a short team demo.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193792"/>
            <a:ext cx="10104120" cy="640080"/>
          </a:xfrm>
          <a:prstGeom prst="roundRect">
            <a:avLst>
              <a:gd name="adj" fmla="val 14000"/>
            </a:avLst>
          </a:prstGeom>
          <a:solidFill>
            <a:srgbClr val="DFEEEA"/>
          </a:solidFill>
          <a:ln>
            <a:solidFill>
              <a:srgbClr val="2C6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25880" y="5385816"/>
            <a:ext cx="946404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/>
            <a:r>
              <a:rPr sz="1700" b="1">
                <a:solidFill>
                  <a:srgbClr val="2C6D6F"/>
                </a:solidFill>
                <a:latin typeface="Segoe UI"/>
              </a:rPr>
              <a:t>NEXT STEP ? Automate one useful journey, then reuse the pattern.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38862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850" b="0">
                <a:solidFill>
                  <a:srgbClr val="5F5A56"/>
                </a:solidFill>
                <a:latin typeface="Segoe UI"/>
              </a:rPr>
              <a:t>QA Automation ? Save effort ? Ship with 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473952"/>
            <a:ext cx="1874519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Robot Framework Workshop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40312" y="6473952"/>
            <a:ext cx="201168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/>
            <a:r>
              <a:rPr sz="850" b="1">
                <a:solidFill>
                  <a:srgbClr val="5F5A5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02920"/>
            <a:ext cx="987552" cy="6583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901952"/>
            <a:ext cx="5486400" cy="6400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70632"/>
            <a:ext cx="4572000" cy="32918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100" b="1">
                <a:solidFill>
                  <a:srgbClr val="FFCC00"/>
                </a:solidFill>
                <a:latin typeface="Segoe UI"/>
              </a:rPr>
              <a:t>Questions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108" y="3425134"/>
            <a:ext cx="8071386" cy="124957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0">
                <a:solidFill>
                  <a:srgbClr val="E0E4E8"/>
                </a:solidFill>
                <a:latin typeface="Segoe UI"/>
              </a:rPr>
              <a:t>What repetitive QA checks could we automate first in your project?</a:t>
            </a:r>
          </a:p>
          <a:p>
            <a:endParaRPr lang="en-US" sz="2000" dirty="0">
              <a:solidFill>
                <a:srgbClr val="E0E4E8"/>
              </a:solidFill>
              <a:latin typeface="Segoe UI"/>
              <a:cs typeface="Segoe UI"/>
            </a:endParaRPr>
          </a:p>
          <a:p>
            <a:endParaRPr lang="en-US" sz="2000" dirty="0">
              <a:solidFill>
                <a:srgbClr val="E0E4E8"/>
              </a:solidFill>
              <a:latin typeface="Segoe UI"/>
              <a:cs typeface="Segoe UI"/>
            </a:endParaRPr>
          </a:p>
          <a:p>
            <a:r>
              <a:rPr lang="en-US" sz="2000" b="1">
                <a:solidFill>
                  <a:srgbClr val="E0E4E8"/>
                </a:solidFill>
                <a:latin typeface="Segoe UI"/>
                <a:cs typeface="Segoe UI"/>
              </a:rPr>
              <a:t>Material: </a:t>
            </a:r>
            <a:r>
              <a:rPr lang="en-US" sz="2000" b="1" dirty="0">
                <a:solidFill>
                  <a:srgbClr val="00B0F0"/>
                </a:solidFill>
                <a:latin typeface="Segoe UI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Hands-On material</a:t>
            </a:r>
            <a:endParaRPr lang="en-US" sz="2000" b="1">
              <a:solidFill>
                <a:srgbClr val="00B0F0"/>
              </a:solidFill>
              <a:latin typeface="Segoe UI"/>
              <a:cs typeface="Segoe UI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727712" y="2073111"/>
            <a:ext cx="2834640" cy="2057400"/>
          </a:xfrm>
          <a:prstGeom prst="roundRect">
            <a:avLst>
              <a:gd name="adj" fmla="val 14000"/>
            </a:avLst>
          </a:prstGeom>
          <a:solidFill>
            <a:srgbClr val="2D3A50"/>
          </a:solidFill>
          <a:ln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3309" y="2363739"/>
            <a:ext cx="1097280" cy="1828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000" b="1" dirty="0">
                <a:solidFill>
                  <a:srgbClr val="FFCC00"/>
                </a:solidFill>
                <a:latin typeface="Segoe UI"/>
              </a:rPr>
              <a:t>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15876" y="2772643"/>
            <a:ext cx="2248747" cy="124957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2000" b="1" dirty="0">
                <a:solidFill>
                  <a:srgbClr val="FFFFFF"/>
                </a:solidFill>
                <a:latin typeface="Segoe UI"/>
              </a:rPr>
              <a:t>Automate the repetitive.
Keep people focused on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24144"/>
            <a:ext cx="6766560" cy="27432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1400" b="0">
                <a:solidFill>
                  <a:srgbClr val="E0E4E8"/>
                </a:solidFill>
                <a:latin typeface="Segoe UI"/>
              </a:rPr>
              <a:t>Special thanks to Saroj Duwadi for the original workshop material.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88752" y="6483096"/>
            <a:ext cx="685800" cy="16459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9a68f73-b527-45da-b1a3-2f598590be36}" enabled="1" method="Standard" siteId="{3ae7c479-0cf1-47f4-8f84-929f364eff6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1093</Words>
  <Application>Microsoft Office PowerPoint</Application>
  <PresentationFormat>Widescreen</PresentationFormat>
  <Paragraphs>175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Pinto Nuno, IT21.42</cp:lastModifiedBy>
  <cp:revision>96</cp:revision>
  <dcterms:created xsi:type="dcterms:W3CDTF">2013-01-27T09:14:16Z</dcterms:created>
  <dcterms:modified xsi:type="dcterms:W3CDTF">2026-10-09T08:37:46Z</dcterms:modified>
  <cp:category/>
</cp:coreProperties>
</file>